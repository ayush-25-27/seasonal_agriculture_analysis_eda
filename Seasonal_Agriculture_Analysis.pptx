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5033" autoAdjust="0"/>
  </p:normalViewPr>
  <p:slideViewPr>
    <p:cSldViewPr snapToGrid="0">
      <p:cViewPr varScale="1">
        <p:scale>
          <a:sx n="78" d="100"/>
          <a:sy n="78" d="100"/>
        </p:scale>
        <p:origin x="782" y="72"/>
      </p:cViewPr>
      <p:guideLst>
        <p:guide orient="horz" pos="1968"/>
        <p:guide pos="408"/>
        <p:guide orient="horz" pos="3912"/>
        <p:guide pos="7272"/>
        <p:guide orient="horz" pos="1656"/>
      </p:guideLst>
    </p:cSldViewPr>
  </p:slideViewPr>
  <p:outlineViewPr>
    <p:cViewPr>
      <p:scale>
        <a:sx n="33" d="100"/>
        <a:sy n="33" d="100"/>
      </p:scale>
      <p:origin x="0" y="-356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Ranjan" userId="96c6a714457fabfd" providerId="LiveId" clId="{D065458E-C28C-4162-9D79-9C2B7313BB22}"/>
    <pc:docChg chg="custSel modSld">
      <pc:chgData name="Ayush Ranjan" userId="96c6a714457fabfd" providerId="LiveId" clId="{D065458E-C28C-4162-9D79-9C2B7313BB22}" dt="2026-09-10T08:03:33.813" v="1" actId="27636"/>
      <pc:docMkLst>
        <pc:docMk/>
      </pc:docMkLst>
      <pc:sldChg chg="modSp mod">
        <pc:chgData name="Ayush Ranjan" userId="96c6a714457fabfd" providerId="LiveId" clId="{D065458E-C28C-4162-9D79-9C2B7313BB22}" dt="2026-09-10T08:03:33.813" v="1" actId="27636"/>
        <pc:sldMkLst>
          <pc:docMk/>
          <pc:sldMk cId="1604013440" sldId="338"/>
        </pc:sldMkLst>
        <pc:spChg chg="mod">
          <ac:chgData name="Ayush Ranjan" userId="96c6a714457fabfd" providerId="LiveId" clId="{D065458E-C28C-4162-9D79-9C2B7313BB22}" dt="2026-09-10T08:03:33.813" v="1" actId="27636"/>
          <ac:spMkLst>
            <pc:docMk/>
            <pc:sldMk cId="1604013440" sldId="338"/>
            <ac:spMk id="2" creationId="{7201737A-B873-4D1D-8A41-5ABF5184BC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994787" y="4080387"/>
            <a:ext cx="4166466" cy="1224858"/>
          </a:xfrm>
        </p:spPr>
        <p:txBody>
          <a:bodyPr vert="horz" lIns="91440" tIns="45720" rIns="91440" bIns="45720" rtlCol="0" anchor="t">
            <a:normAutofit fontScale="85000" lnSpcReduction="20000"/>
          </a:bodyPr>
          <a:lstStyle/>
          <a:p>
            <a:pPr algn="r"/>
            <a:r>
              <a:rPr lang="en-US" b="0" dirty="0">
                <a:solidFill>
                  <a:schemeClr val="tx1"/>
                </a:solidFill>
              </a:rPr>
              <a:t>Ayush Ranjan</a:t>
            </a:r>
          </a:p>
          <a:p>
            <a:pPr algn="r"/>
            <a:r>
              <a:rPr lang="en-US" b="0" dirty="0">
                <a:solidFill>
                  <a:schemeClr val="tx1"/>
                </a:solidFill>
              </a:rPr>
              <a:t>Maharaja Agrasen institute of technology </a:t>
            </a:r>
          </a:p>
          <a:p>
            <a:pPr algn="r"/>
            <a:r>
              <a:rPr lang="en-US" b="0" dirty="0">
                <a:solidFill>
                  <a:schemeClr val="tx1">
                    <a:lumMod val="65000"/>
                    <a:lumOff val="35000"/>
                  </a:schemeClr>
                </a:solidFill>
              </a:rPr>
              <a:t>Student ID: STU6a2aafcb805e11781182411</a:t>
            </a:r>
            <a:endParaRPr lang="en-IN" b="0" dirty="0">
              <a:solidFill>
                <a:schemeClr val="tx1">
                  <a:lumMod val="65000"/>
                  <a:lumOff val="35000"/>
                </a:schemeClr>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5900000" cy="4300000"/>
          </a:xfrm>
        </p:spPr>
        <p:txBody>
          <a:bodyPr>
            <a:normAutofit/>
          </a:bodyPr>
          <a:lstStyle/>
          <a:p>
            <a:r>
              <a:rPr lang="en-GB" sz="3600" dirty="0"/>
              <a:t>Project Description</a:t>
            </a:r>
          </a:p>
          <a:p>
            <a:pPr>
              <a:spcBef>
                <a:spcPts val="1200"/>
              </a:spcBef>
            </a:pPr>
            <a:r>
              <a:rPr lang="en-GB" sz="1700" b="0" dirty="0"/>
              <a:t>For this project I used a seasonal agriculture dataset with 4000 farm records and 28 columns, covering crops grown across the Kharif, Rabi and Zaid seasons in India.</a:t>
            </a:r>
          </a:p>
          <a:p>
            <a:pPr>
              <a:lnSpc>
                <a:spcPct val="140000"/>
              </a:lnSpc>
            </a:pPr>
            <a:r>
              <a:rPr lang="en-GB" sz="1700" b="0" dirty="0"/>
              <a:t>I cleaned the missing values, then analyzed how rainfall, temperature, yield, profit, water usage and disease/pest risk change from one season to another, and which crops perform best in which season.</a:t>
            </a:r>
            <a:br>
              <a:rPr lang="en-GB" sz="1700" b="0" dirty="0"/>
            </a:br>
            <a:r>
              <a:rPr lang="en-GB" sz="1700" b="0" dirty="0"/>
              <a:t>And finds the </a:t>
            </a:r>
            <a:r>
              <a:rPr lang="en-GB" sz="1700" b="0" dirty="0" err="1"/>
              <a:t>meaningfull</a:t>
            </a:r>
            <a:r>
              <a:rPr lang="en-GB" sz="1700" b="0" dirty="0"/>
              <a:t> insights.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buFont typeface="Arial"/>
              <a:buChar char="•"/>
            </a:pPr>
            <a:r>
              <a:rPr lang="en-IN" sz="1900" dirty="0"/>
              <a:t>Farmers – to know which season and crop combination is likely to give better yield and profit</a:t>
            </a:r>
          </a:p>
          <a:p>
            <a:pPr algn="just">
              <a:lnSpc>
                <a:spcPct val="150000"/>
              </a:lnSpc>
              <a:buFont typeface="Arial"/>
              <a:buChar char="•"/>
            </a:pPr>
            <a:r>
              <a:rPr lang="en-IN" sz="1900" dirty="0"/>
              <a:t>Agricultural planners &amp; government bodies – to plan irrigation, subsidies and support based on seasonal risk</a:t>
            </a:r>
          </a:p>
          <a:p>
            <a:pPr algn="just">
              <a:lnSpc>
                <a:spcPct val="150000"/>
              </a:lnSpc>
              <a:buFont typeface="Arial"/>
              <a:buChar char="•"/>
            </a:pPr>
            <a:r>
              <a:rPr lang="en-IN" sz="1900" dirty="0"/>
              <a:t>Agri-tech and insurance companies – to assess risk and design better products for farmers</a:t>
            </a:r>
          </a:p>
          <a:p>
            <a:pPr algn="just">
              <a:lnSpc>
                <a:spcPct val="150000"/>
              </a:lnSpc>
              <a:buFont typeface="Arial"/>
              <a:buChar char="•"/>
            </a:pPr>
            <a:r>
              <a:rPr lang="en-IN" sz="1900" dirty="0"/>
              <a:t>Researchers/students – as a reference for studying seasonal farming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1">
              <a:lnSpc>
                <a:spcPct val="150000"/>
              </a:lnSpc>
            </a:pPr>
            <a:r>
              <a:rPr lang="en-IN" sz="1800" dirty="0"/>
              <a:t>Python – the main language I used for this project</a:t>
            </a:r>
          </a:p>
          <a:p>
            <a:pPr lvl="1" algn="ctr">
              <a:lnSpc>
                <a:spcPct val="150000"/>
              </a:lnSpc>
            </a:pPr>
            <a:r>
              <a:rPr lang="en-IN" sz="1800" dirty="0"/>
              <a:t>Pandas &amp; NumPy – for cleaning, grouping and analyzing the data</a:t>
            </a:r>
          </a:p>
          <a:p>
            <a:pPr lvl="1">
              <a:lnSpc>
                <a:spcPct val="150000"/>
              </a:lnSpc>
            </a:pPr>
            <a:r>
              <a:rPr lang="en-IN" sz="1800" dirty="0"/>
              <a:t>Matplotlib &amp; Seaborn – to plot all the charts and the correlation heatmap</a:t>
            </a:r>
          </a:p>
          <a:p>
            <a:pPr lvl="1" algn="ctr">
              <a:lnSpc>
                <a:spcPct val="150000"/>
              </a:lnSpc>
            </a:pPr>
            <a:r>
              <a:rPr lang="en-IN" sz="1800" dirty="0"/>
              <a:t>Jupyter Notebook – where I wrote and ran all the code</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20" name="Section Label"/>
          <p:cNvSpPr txBox="1"/>
          <p:nvPr/>
        </p:nvSpPr>
        <p:spPr>
          <a:xfrm>
            <a:off x="675957" y="1300000"/>
            <a:ext cx="7300000" cy="500000"/>
          </a:xfrm>
          <a:prstGeom prst="rect">
            <a:avLst/>
          </a:prstGeom>
        </p:spPr>
        <p:txBody>
          <a:bodyPr/>
          <a:lstStyle/>
          <a:p>
            <a:pPr marL="0" indent="0">
              <a:buNone/>
            </a:pPr>
            <a:r>
              <a:rPr lang="en-US" sz="2200" b="1" dirty="0">
                <a:solidFill>
                  <a:schemeClr val="accent2"/>
                </a:solidFill>
              </a:rPr>
              <a:t>Data Overview &amp; Basic Info</a:t>
            </a:r>
          </a:p>
        </p:txBody>
      </p:sp>
      <p:pic>
        <p:nvPicPr>
          <p:cNvPr id="21" name="Notebook Screenshot"/>
          <p:cNvPicPr>
            <a:picLocks noChangeAspect="1"/>
          </p:cNvPicPr>
          <p:nvPr/>
        </p:nvPicPr>
        <p:blipFill>
          <a:blip r:embed="rId3"/>
          <a:stretch>
            <a:fillRect/>
          </a:stretch>
        </p:blipFill>
        <p:spPr>
          <a:xfrm>
            <a:off x="2074395" y="1850000"/>
            <a:ext cx="4266019" cy="4438657"/>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Missing Values, Duplicates &amp; Season Counts</a:t>
            </a:r>
            <a:endParaRPr lang="en-IN" sz="2200" b="1" dirty="0"/>
          </a:p>
        </p:txBody>
      </p:sp>
      <p:pic>
        <p:nvPicPr>
          <p:cNvPr id="21" name="Notebook Screenshot"/>
          <p:cNvPicPr>
            <a:picLocks noChangeAspect="1"/>
          </p:cNvPicPr>
          <p:nvPr/>
        </p:nvPicPr>
        <p:blipFill>
          <a:blip r:embed="rId3"/>
          <a:stretch>
            <a:fillRect/>
          </a:stretch>
        </p:blipFill>
        <p:spPr>
          <a:xfrm>
            <a:off x="1390503" y="1850000"/>
            <a:ext cx="4969620" cy="4550000"/>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Farms per Season &amp; Weather Conditions</a:t>
            </a:r>
            <a:endParaRPr lang="en-IN" sz="2200" b="1" dirty="0"/>
          </a:p>
        </p:txBody>
      </p:sp>
      <p:pic>
        <p:nvPicPr>
          <p:cNvPr id="21" name="Notebook Screenshot"/>
          <p:cNvPicPr>
            <a:picLocks noChangeAspect="1"/>
          </p:cNvPicPr>
          <p:nvPr/>
        </p:nvPicPr>
        <p:blipFill>
          <a:blip r:embed="rId3"/>
          <a:stretch>
            <a:fillRect/>
          </a:stretch>
        </p:blipFill>
        <p:spPr>
          <a:xfrm>
            <a:off x="1272851" y="1850000"/>
            <a:ext cx="5204924" cy="4550000"/>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Average Rainfall &amp; Yield by Season</a:t>
            </a:r>
            <a:endParaRPr lang="en-IN" sz="2200" b="1" dirty="0"/>
          </a:p>
        </p:txBody>
      </p:sp>
      <p:pic>
        <p:nvPicPr>
          <p:cNvPr id="21" name="Notebook Screenshot"/>
          <p:cNvPicPr>
            <a:picLocks noChangeAspect="1"/>
          </p:cNvPicPr>
          <p:nvPr/>
        </p:nvPicPr>
        <p:blipFill>
          <a:blip r:embed="rId3"/>
          <a:stretch>
            <a:fillRect/>
          </a:stretch>
        </p:blipFill>
        <p:spPr>
          <a:xfrm>
            <a:off x="2244334" y="1850000"/>
            <a:ext cx="3261958" cy="4550000"/>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Profit by Season &amp; Loss Analysis</a:t>
            </a:r>
            <a:endParaRPr lang="en-IN" sz="2200" b="1" dirty="0"/>
          </a:p>
        </p:txBody>
      </p:sp>
      <p:pic>
        <p:nvPicPr>
          <p:cNvPr id="21" name="Notebook Screenshot"/>
          <p:cNvPicPr>
            <a:picLocks noChangeAspect="1"/>
          </p:cNvPicPr>
          <p:nvPr/>
        </p:nvPicPr>
        <p:blipFill>
          <a:blip r:embed="rId3"/>
          <a:stretch>
            <a:fillRect/>
          </a:stretch>
        </p:blipFill>
        <p:spPr>
          <a:xfrm>
            <a:off x="1554199" y="1850000"/>
            <a:ext cx="4642229" cy="4550000"/>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Loss % and Disease/Pest Risk by Season</a:t>
            </a:r>
            <a:endParaRPr lang="en-IN" sz="2200" b="1" dirty="0"/>
          </a:p>
        </p:txBody>
      </p:sp>
      <p:pic>
        <p:nvPicPr>
          <p:cNvPr id="21" name="Notebook Screenshot"/>
          <p:cNvPicPr>
            <a:picLocks noChangeAspect="1"/>
          </p:cNvPicPr>
          <p:nvPr/>
        </p:nvPicPr>
        <p:blipFill>
          <a:blip r:embed="rId3"/>
          <a:stretch>
            <a:fillRect/>
          </a:stretch>
        </p:blipFill>
        <p:spPr>
          <a:xfrm>
            <a:off x="2244334" y="1850000"/>
            <a:ext cx="3261958" cy="4550000"/>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384962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Water Usage &amp; Crop Performance by Season</a:t>
            </a:r>
            <a:endParaRPr lang="en-IN" sz="2200" b="1" dirty="0"/>
          </a:p>
        </p:txBody>
      </p:sp>
      <p:pic>
        <p:nvPicPr>
          <p:cNvPr id="21" name="Notebook Screenshot"/>
          <p:cNvPicPr>
            <a:picLocks noChangeAspect="1"/>
          </p:cNvPicPr>
          <p:nvPr/>
        </p:nvPicPr>
        <p:blipFill>
          <a:blip r:embed="rId3"/>
          <a:stretch>
            <a:fillRect/>
          </a:stretch>
        </p:blipFill>
        <p:spPr>
          <a:xfrm>
            <a:off x="1746576" y="1850000"/>
            <a:ext cx="4257474" cy="4550000"/>
          </a:xfrm>
          <a:prstGeom prst="rect">
            <a:avLst/>
          </a:prstGeom>
          <a:ln w="9525">
            <a:solidFill>
              <a:schemeClr val="tx1">
                <a:lumMod val="35000"/>
                <a:lumOff val="65000"/>
              </a:schemeClr>
            </a:solidFill>
          </a:ln>
        </p:spPr>
      </p:pic>
    </p:spTree>
    <p:extLst>
      <p:ext uri="{BB962C8B-B14F-4D97-AF65-F5344CB8AC3E}">
        <p14:creationId xmlns:p14="http://schemas.microsoft.com/office/powerpoint/2010/main" val="3849627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300000"/>
            <a:ext cx="7300000" cy="500000"/>
          </a:xfrm>
        </p:spPr>
        <p:txBody>
          <a:bodyPr/>
          <a:lstStyle/>
          <a:p>
            <a:pPr marL="0" indent="0">
              <a:buNone/>
            </a:pPr>
            <a:r>
              <a:rPr lang="en-US" sz="2200" b="1" dirty="0">
                <a:solidFill>
                  <a:schemeClr val="accent2"/>
                </a:solidFill>
              </a:rPr>
              <a:t>Correlation Heatmap &amp; Key Insights</a:t>
            </a:r>
            <a:endParaRPr lang="en-IN" sz="2200" b="1" dirty="0"/>
          </a:p>
        </p:txBody>
      </p:sp>
      <p:pic>
        <p:nvPicPr>
          <p:cNvPr id="21" name="Notebook Screenshot"/>
          <p:cNvPicPr>
            <a:picLocks noChangeAspect="1"/>
          </p:cNvPicPr>
          <p:nvPr/>
        </p:nvPicPr>
        <p:blipFill>
          <a:blip r:embed="rId3"/>
          <a:srcRect b="41503"/>
          <a:stretch>
            <a:fillRect/>
          </a:stretch>
        </p:blipFill>
        <p:spPr>
          <a:xfrm>
            <a:off x="1432475" y="1969810"/>
            <a:ext cx="4450250" cy="4332299"/>
          </a:xfrm>
          <a:prstGeom prst="rect">
            <a:avLst/>
          </a:prstGeom>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49627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20" name="Future Scope Body"/>
          <p:cNvSpPr txBox="1"/>
          <p:nvPr/>
        </p:nvSpPr>
        <p:spPr>
          <a:xfrm>
            <a:off x="675957" y="1900000"/>
            <a:ext cx="7300000" cy="4400000"/>
          </a:xfrm>
          <a:prstGeom prst="rect">
            <a:avLst/>
          </a:prstGeom>
        </p:spPr>
        <p:txBody>
          <a:bodyPr wrap="square">
            <a:normAutofit/>
          </a:bodyPr>
          <a:lstStyle/>
          <a:p>
            <a:pPr algn="just">
              <a:lnSpc>
                <a:spcPct val="150000"/>
              </a:lnSpc>
              <a:buFont typeface="Arial"/>
              <a:buChar char="•"/>
            </a:pPr>
            <a:r>
              <a:rPr lang="en-IN" sz="1900" dirty="0"/>
              <a:t>Build a machine learning model to predict yield and profit for a given crop, season and set of conditions</a:t>
            </a:r>
          </a:p>
          <a:p>
            <a:pPr algn="just">
              <a:lnSpc>
                <a:spcPct val="150000"/>
              </a:lnSpc>
              <a:buFont typeface="Arial"/>
              <a:buChar char="•"/>
            </a:pPr>
            <a:r>
              <a:rPr lang="en-IN" sz="1900" dirty="0"/>
              <a:t>Add real-time weather and market price data to make the analysis more useful for current decisions</a:t>
            </a:r>
          </a:p>
          <a:p>
            <a:pPr algn="just">
              <a:lnSpc>
                <a:spcPct val="150000"/>
              </a:lnSpc>
              <a:buFont typeface="Arial"/>
              <a:buChar char="•"/>
            </a:pPr>
            <a:r>
              <a:rPr lang="en-IN" sz="1900" dirty="0"/>
              <a:t>Turn this into a simple dashboard/app where a farmer can enter their crop and season and get quick insights</a:t>
            </a:r>
          </a:p>
          <a:p>
            <a:pPr algn="just">
              <a:lnSpc>
                <a:spcPct val="150000"/>
              </a:lnSpc>
              <a:buFont typeface="Arial"/>
              <a:buChar char="•"/>
            </a:pPr>
            <a:r>
              <a:rPr lang="en-IN" sz="1900" dirty="0"/>
              <a:t>Dig deeper into cost and pricing data to understand exactly why almost half the farms are running at a loss</a:t>
            </a:r>
          </a:p>
        </p:txBody>
      </p:sp>
    </p:spTree>
    <p:extLst>
      <p:ext uri="{BB962C8B-B14F-4D97-AF65-F5344CB8AC3E}">
        <p14:creationId xmlns:p14="http://schemas.microsoft.com/office/powerpoint/2010/main" val="776828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https://github.com/Ayush-25-27/Seasonal_Agriculture_analysis_EDA.git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2C18246-998E-7383-0147-DF05C2C75BBA}"/>
              </a:ext>
            </a:extLst>
          </p:cNvPr>
          <p:cNvPicPr>
            <a:picLocks noChangeAspect="1"/>
          </p:cNvPicPr>
          <p:nvPr/>
        </p:nvPicPr>
        <p:blipFill>
          <a:blip r:embed="rId3"/>
          <a:stretch>
            <a:fillRect/>
          </a:stretch>
        </p:blipFill>
        <p:spPr>
          <a:xfrm>
            <a:off x="1607878" y="1544703"/>
            <a:ext cx="6988146" cy="440491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1387</TotalTime>
  <Words>475</Words>
  <Application>Microsoft Office PowerPoint</Application>
  <PresentationFormat>Widescreen</PresentationFormat>
  <Paragraphs>47</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Seasonal Agriculture Performance Analysis</vt:lpstr>
      <vt:lpstr>PROBLEM  STATEMENT</vt:lpstr>
      <vt:lpstr>Project Description For this project I used a seasonal agriculture dataset with 4000 farm records and 28 columns, covering crops grown across the Kharif, Rabi and Zaid seasons in India. I cleaned the missing values, then analyzed how rainfall, temperature, yield, profit, water usage and disease/pest risk change from one season to another, and which crops perform best in which season. And finds the meaningfull insights.</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Ayush Ranjan</cp:lastModifiedBy>
  <cp:revision>99</cp:revision>
  <dcterms:created xsi:type="dcterms:W3CDTF">2021-07-11T13:13:15Z</dcterms:created>
  <dcterms:modified xsi:type="dcterms:W3CDTF">2026-09-10T08:03:42Z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